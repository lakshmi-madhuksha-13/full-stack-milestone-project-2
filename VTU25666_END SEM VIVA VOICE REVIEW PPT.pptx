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4" r:id="rId3"/>
    <p:sldId id="258" r:id="rId4"/>
    <p:sldId id="275" r:id="rId5"/>
    <p:sldId id="276" r:id="rId6"/>
    <p:sldId id="277" r:id="rId7"/>
    <p:sldId id="262" r:id="rId8"/>
    <p:sldId id="278" r:id="rId9"/>
    <p:sldId id="279" r:id="rId10"/>
    <p:sldId id="266" r:id="rId11"/>
    <p:sldId id="269" r:id="rId12"/>
    <p:sldId id="267" r:id="rId13"/>
    <p:sldId id="268" r:id="rId14"/>
    <p:sldId id="272" r:id="rId15"/>
    <p:sldId id="271" r:id="rId16"/>
    <p:sldId id="273" r:id="rId17"/>
    <p:sldId id="270" r:id="rId18"/>
    <p:sldId id="265" r:id="rId19"/>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30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TICKET BOOKING SYSTEM FOR TECHNICAL FEST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K.L.P. MADHUKSHA – VTU25666 – 23UECS1115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Sumithra M. – Assistant Professor(SG)</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9 – Quality Education , Industry, Innovation &amp; Infrastructure </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81200" y="2512150"/>
            <a:ext cx="15082325" cy="5632311"/>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Most technical festivals still rely on manual registration or fragmented department-level spreadsheets.</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This reliance leads to data silos, ticket overselling, and delayed communication for venue changes.</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Our project is vital because it centralizes event management into a single, unified microservices platform.</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It ensures a seamless user experience by automating ticket inventory and personal booking history.</a:t>
            </a:r>
          </a:p>
          <a:p>
            <a:pPr algn="just"/>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Real-world relevance lies in providing instant, automated notifications for any administrative updates.</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The system utilizes a distributed architecture to handle high traffic from multiple departments simultaneously.</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The project comprises four specialized services: Discovery, User Auth, Event Inventory, and Booking.</a:t>
            </a:r>
          </a:p>
          <a:p>
            <a:pPr marL="342900" indent="-342900" algn="just">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In summary, it bridges the gap between organizers and participants with real-time, data-driven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1" y="1638300"/>
            <a:ext cx="14706600" cy="2677656"/>
          </a:xfrm>
          <a:prstGeom prst="rect">
            <a:avLst/>
          </a:prstGeom>
          <a:noFill/>
        </p:spPr>
        <p:txBody>
          <a:bodyPr wrap="square" rtlCol="0">
            <a:spAutoFit/>
          </a:bodyPr>
          <a:lstStyle/>
          <a:p>
            <a:pPr algn="just"/>
            <a:r>
              <a:rPr lang="en-US" sz="2400" dirty="0">
                <a:latin typeface="Cambria" panose="02040503050406030204" pitchFamily="18" charset="0"/>
                <a:ea typeface="Cambria" panose="02040503050406030204" pitchFamily="18" charset="0"/>
              </a:rPr>
              <a:t>In many academic institutions, current systems for managing large-scale technical festivals are not fully automated and rely heavily on fragmented manual work across different departments. This leads to significant inefficiencies in managing attendee data, tracking live ticket inventory across multiple events, and ensuring accurate communication. Furthermore, existing systems lack a centralized platform for students to explore all available fests or receive real-time notifications regarding venue or schedule updates. Consequently, there is an urgent need for a simple, reliable, and automated microservices-based system that can improve coordination, accuracy, and the overall user experience during the technical fest registration process.</a:t>
            </a:r>
            <a:endParaRPr lang="en-IN" sz="36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460761" y="3334248"/>
            <a:ext cx="14325599"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To design and develop a scalable microservices-based web portal that centralizes technical fest registration and automates ticket inventory management for multiple departments.</a:t>
            </a:r>
          </a:p>
          <a:p>
            <a:pPr algn="just"/>
            <a:endParaRPr lang="en-US" sz="24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To implement a real-time notification engine and a dedicated administrator dashboard to ensure live updates and transparent monitoring of global booking logs.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656416" y="1267128"/>
            <a:ext cx="15082325" cy="8217634"/>
          </a:xfrm>
          <a:prstGeom prst="rect">
            <a:avLst/>
          </a:prstGeom>
          <a:noFill/>
        </p:spPr>
        <p:txBody>
          <a:bodyPr wrap="square" rtlCol="0">
            <a:spAutoFit/>
          </a:bodyPr>
          <a:lstStyle/>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 System Description: </a:t>
            </a:r>
            <a:r>
              <a:rPr lang="en-US" sz="2200" dirty="0">
                <a:latin typeface="Cambria" panose="02040503050406030204" pitchFamily="18" charset="0"/>
                <a:ea typeface="Cambria" panose="02040503050406030204" pitchFamily="18" charset="0"/>
              </a:rPr>
              <a:t>A distributed microservices architecture utilizing Spring Boot and React to manage fests, users, and bookings as independent, modular services.</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Unified Frontend: </a:t>
            </a:r>
            <a:r>
              <a:rPr lang="en-US" sz="2200" dirty="0">
                <a:latin typeface="Cambria" panose="02040503050406030204" pitchFamily="18" charset="0"/>
                <a:ea typeface="Cambria" panose="02040503050406030204" pitchFamily="18" charset="0"/>
              </a:rPr>
              <a:t>Centralizes all flagship technical fests onto a single platform, allowing students to browse and register without switching between multiple department sites.</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Dynamic Inventory Management: </a:t>
            </a:r>
            <a:r>
              <a:rPr lang="en-US" sz="2200" dirty="0">
                <a:latin typeface="Cambria" panose="02040503050406030204" pitchFamily="18" charset="0"/>
                <a:ea typeface="Cambria" panose="02040503050406030204" pitchFamily="18" charset="0"/>
              </a:rPr>
              <a:t>Solves the issue of ticket overselling by using real-time availability counters that sync instantly with the global database during every transaction.</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Multi-Attendee Automation: </a:t>
            </a:r>
            <a:r>
              <a:rPr lang="en-US" sz="2200" dirty="0">
                <a:latin typeface="Cambria" panose="02040503050406030204" pitchFamily="18" charset="0"/>
                <a:ea typeface="Cambria" panose="02040503050406030204" pitchFamily="18" charset="0"/>
              </a:rPr>
              <a:t>Addresses complex registration needs by enabling a single booking to dynamically capture unique data (name, email, dept) for every individual ticket.</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Broadcast Notification System: </a:t>
            </a:r>
            <a:r>
              <a:rPr lang="en-US" sz="2200" dirty="0">
                <a:latin typeface="Cambria" panose="02040503050406030204" pitchFamily="18" charset="0"/>
                <a:ea typeface="Cambria" panose="02040503050406030204" pitchFamily="18" charset="0"/>
              </a:rPr>
              <a:t>Resolves communication delays by using a notification engine to send instant alerts to attendees regarding venue or schedule changes.</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Administrative Transparency: </a:t>
            </a:r>
            <a:r>
              <a:rPr lang="en-US" sz="2200" dirty="0">
                <a:latin typeface="Cambria" panose="02040503050406030204" pitchFamily="18" charset="0"/>
                <a:ea typeface="Cambria" panose="02040503050406030204" pitchFamily="18" charset="0"/>
              </a:rPr>
              <a:t>Provides a global booking log and master event control dashboard, giving organizers real-time visibility that current manual systems lack.</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High-Availability Advantage: </a:t>
            </a:r>
            <a:r>
              <a:rPr lang="en-US" sz="2200" dirty="0">
                <a:latin typeface="Cambria" panose="02040503050406030204" pitchFamily="18" charset="0"/>
                <a:ea typeface="Cambria" panose="02040503050406030204" pitchFamily="18" charset="0"/>
              </a:rPr>
              <a:t>By using the Eureka Discovery Server, the system ensures that even if one service undergoes maintenance, the rest of the portal remains operational.</a:t>
            </a:r>
          </a:p>
          <a:p>
            <a:pPr algn="just"/>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Scalable &amp; Premium UX: </a:t>
            </a:r>
            <a:r>
              <a:rPr lang="en-US" sz="2200" dirty="0">
                <a:latin typeface="Cambria" panose="02040503050406030204" pitchFamily="18" charset="0"/>
                <a:ea typeface="Cambria" panose="02040503050406030204" pitchFamily="18" charset="0"/>
              </a:rPr>
              <a:t>Offers a modern, </a:t>
            </a:r>
            <a:r>
              <a:rPr lang="en-US" sz="2200" dirty="0" err="1">
                <a:latin typeface="Cambria" panose="02040503050406030204" pitchFamily="18" charset="0"/>
                <a:ea typeface="Cambria" panose="02040503050406030204" pitchFamily="18" charset="0"/>
              </a:rPr>
              <a:t>glassmorphic</a:t>
            </a:r>
            <a:r>
              <a:rPr lang="en-US" sz="2200" dirty="0">
                <a:latin typeface="Cambria" panose="02040503050406030204" pitchFamily="18" charset="0"/>
                <a:ea typeface="Cambria" panose="02040503050406030204" pitchFamily="18" charset="0"/>
              </a:rPr>
              <a:t> user interface that can handle a larger volume of traffic and data more efficiently than traditional spreadsheet-based methods.</a:t>
            </a:r>
            <a:endParaRPr lang="en-IN" sz="22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FA4CAAF-3F94-E139-6B99-54F0021598D1}"/>
              </a:ext>
            </a:extLst>
          </p:cNvPr>
          <p:cNvPicPr>
            <a:picLocks noChangeAspect="1"/>
          </p:cNvPicPr>
          <p:nvPr/>
        </p:nvPicPr>
        <p:blipFill>
          <a:blip r:embed="rId4"/>
          <a:stretch>
            <a:fillRect/>
          </a:stretch>
        </p:blipFill>
        <p:spPr>
          <a:xfrm>
            <a:off x="12649200" y="2479934"/>
            <a:ext cx="5207962" cy="6778366"/>
          </a:xfrm>
          <a:prstGeom prst="rect">
            <a:avLst/>
          </a:prstGeom>
        </p:spPr>
      </p:pic>
      <p:pic>
        <p:nvPicPr>
          <p:cNvPr id="34" name="Picture 33">
            <a:extLst>
              <a:ext uri="{FF2B5EF4-FFF2-40B4-BE49-F238E27FC236}">
                <a16:creationId xmlns:a16="http://schemas.microsoft.com/office/drawing/2014/main" id="{70A11AEC-353F-28F9-D9CE-3EC71DE3EAA5}"/>
              </a:ext>
            </a:extLst>
          </p:cNvPr>
          <p:cNvPicPr>
            <a:picLocks noChangeAspect="1"/>
          </p:cNvPicPr>
          <p:nvPr/>
        </p:nvPicPr>
        <p:blipFill>
          <a:blip r:embed="rId5"/>
          <a:stretch>
            <a:fillRect/>
          </a:stretch>
        </p:blipFill>
        <p:spPr>
          <a:xfrm>
            <a:off x="1831257" y="1337655"/>
            <a:ext cx="10563837" cy="84540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F4B6EA2-120A-97CB-C333-E78913EB7A5C}"/>
              </a:ext>
            </a:extLst>
          </p:cNvPr>
          <p:cNvPicPr>
            <a:picLocks noChangeAspect="1"/>
          </p:cNvPicPr>
          <p:nvPr/>
        </p:nvPicPr>
        <p:blipFill>
          <a:blip r:embed="rId4"/>
          <a:stretch>
            <a:fillRect/>
          </a:stretch>
        </p:blipFill>
        <p:spPr>
          <a:xfrm>
            <a:off x="1967648" y="2141988"/>
            <a:ext cx="15116837" cy="68877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2071591"/>
            <a:ext cx="14765551" cy="6494085"/>
          </a:xfrm>
          <a:prstGeom prst="rect">
            <a:avLst/>
          </a:prstGeom>
          <a:noFill/>
        </p:spPr>
        <p:txBody>
          <a:bodyPr wrap="square" rtlCol="0">
            <a:spAutoFit/>
          </a:bodyPr>
          <a:lstStyle/>
          <a:p>
            <a:pPr marL="457200" indent="-457200" algn="just">
              <a:buFont typeface="Arial" panose="020B0604020202020204" pitchFamily="34" charset="0"/>
              <a:buChar char="•"/>
            </a:pPr>
            <a:r>
              <a:rPr lang="en-IN" sz="3200" b="1" dirty="0">
                <a:latin typeface="Cambria" panose="02040503050406030204" pitchFamily="18" charset="0"/>
                <a:ea typeface="Cambria" panose="02040503050406030204" pitchFamily="18" charset="0"/>
              </a:rPr>
              <a:t>Frontend:</a:t>
            </a:r>
            <a:r>
              <a:rPr lang="en-IN" sz="3200" dirty="0">
                <a:latin typeface="Cambria" panose="02040503050406030204" pitchFamily="18" charset="0"/>
                <a:ea typeface="Cambria" panose="02040503050406030204" pitchFamily="18" charset="0"/>
              </a:rPr>
              <a:t> React JS, CSS3, HTML5</a:t>
            </a:r>
          </a:p>
          <a:p>
            <a:pPr marL="457200" indent="-457200" algn="just">
              <a:buFont typeface="Arial" panose="020B0604020202020204" pitchFamily="34" charset="0"/>
              <a:buChar char="•"/>
            </a:pPr>
            <a:endParaRPr lang="en-IN" sz="3200" dirty="0">
              <a:latin typeface="Cambria" panose="02040503050406030204" pitchFamily="18" charset="0"/>
              <a:ea typeface="Cambria" panose="02040503050406030204" pitchFamily="18" charset="0"/>
            </a:endParaRPr>
          </a:p>
          <a:p>
            <a:pPr marL="457200" indent="-457200" algn="just">
              <a:buFont typeface="Arial" panose="020B0604020202020204" pitchFamily="34" charset="0"/>
              <a:buChar char="•"/>
            </a:pPr>
            <a:r>
              <a:rPr lang="en-IN" sz="3200" b="1" dirty="0">
                <a:latin typeface="Cambria" panose="02040503050406030204" pitchFamily="18" charset="0"/>
                <a:ea typeface="Cambria" panose="02040503050406030204" pitchFamily="18" charset="0"/>
              </a:rPr>
              <a:t>Backend:</a:t>
            </a:r>
            <a:r>
              <a:rPr lang="en-IN" sz="3200" dirty="0">
                <a:latin typeface="Cambria" panose="02040503050406030204" pitchFamily="18" charset="0"/>
                <a:ea typeface="Cambria" panose="02040503050406030204" pitchFamily="18" charset="0"/>
              </a:rPr>
              <a:t> Java 17+, Spring Boot, Spring Data JPA, Hibernate, Eureka Service Registry.</a:t>
            </a:r>
          </a:p>
          <a:p>
            <a:pPr marL="457200" indent="-457200" algn="just">
              <a:buFont typeface="Arial" panose="020B0604020202020204" pitchFamily="34" charset="0"/>
              <a:buChar char="•"/>
            </a:pPr>
            <a:endParaRPr lang="en-IN" sz="3200" dirty="0">
              <a:latin typeface="Cambria" panose="02040503050406030204" pitchFamily="18" charset="0"/>
              <a:ea typeface="Cambria" panose="02040503050406030204" pitchFamily="18" charset="0"/>
            </a:endParaRPr>
          </a:p>
          <a:p>
            <a:pPr marL="457200" indent="-457200" algn="just">
              <a:buFont typeface="Arial" panose="020B0604020202020204" pitchFamily="34" charset="0"/>
              <a:buChar char="•"/>
            </a:pPr>
            <a:r>
              <a:rPr lang="en-IN" sz="3200" b="1" dirty="0">
                <a:latin typeface="Cambria" panose="02040503050406030204" pitchFamily="18" charset="0"/>
                <a:ea typeface="Cambria" panose="02040503050406030204" pitchFamily="18" charset="0"/>
              </a:rPr>
              <a:t>Database:</a:t>
            </a:r>
            <a:r>
              <a:rPr lang="en-IN" sz="3200" dirty="0">
                <a:latin typeface="Cambria" panose="02040503050406030204" pitchFamily="18" charset="0"/>
                <a:ea typeface="Cambria" panose="02040503050406030204" pitchFamily="18" charset="0"/>
              </a:rPr>
              <a:t> MySQL</a:t>
            </a:r>
          </a:p>
          <a:p>
            <a:pPr marL="457200" indent="-457200" algn="just">
              <a:buFont typeface="Arial" panose="020B0604020202020204" pitchFamily="34" charset="0"/>
              <a:buChar char="•"/>
            </a:pPr>
            <a:endParaRPr lang="en-IN" sz="3200" dirty="0">
              <a:latin typeface="Cambria" panose="02040503050406030204" pitchFamily="18" charset="0"/>
              <a:ea typeface="Cambria" panose="02040503050406030204" pitchFamily="18" charset="0"/>
            </a:endParaRPr>
          </a:p>
          <a:p>
            <a:pPr marL="457200" indent="-457200" algn="just">
              <a:buFont typeface="Arial" panose="020B0604020202020204" pitchFamily="34" charset="0"/>
              <a:buChar char="•"/>
            </a:pPr>
            <a:r>
              <a:rPr lang="en-IN" sz="3200" b="1" dirty="0">
                <a:latin typeface="Cambria" panose="02040503050406030204" pitchFamily="18" charset="0"/>
                <a:ea typeface="Cambria" panose="02040503050406030204" pitchFamily="18" charset="0"/>
              </a:rPr>
              <a:t>Tools:</a:t>
            </a:r>
            <a:r>
              <a:rPr lang="en-IN" sz="3200" dirty="0">
                <a:latin typeface="Cambria" panose="02040503050406030204" pitchFamily="18" charset="0"/>
                <a:ea typeface="Cambria" panose="02040503050406030204" pitchFamily="18" charset="0"/>
              </a:rPr>
              <a:t> VS Code (IDE), Eclipse(Backend), Postman (API Testing)</a:t>
            </a:r>
          </a:p>
          <a:p>
            <a:pPr marL="457200" indent="-457200" algn="just">
              <a:buFont typeface="Arial" panose="020B0604020202020204" pitchFamily="34" charset="0"/>
              <a:buChar char="•"/>
            </a:pPr>
            <a:endParaRPr lang="en-IN" sz="3200" dirty="0">
              <a:latin typeface="Cambria" panose="02040503050406030204" pitchFamily="18" charset="0"/>
              <a:ea typeface="Cambria" panose="02040503050406030204" pitchFamily="18" charset="0"/>
            </a:endParaRPr>
          </a:p>
          <a:p>
            <a:pPr marL="457200" indent="-457200" algn="just">
              <a:buFont typeface="Arial" panose="020B0604020202020204" pitchFamily="34" charset="0"/>
              <a:buChar char="•"/>
            </a:pPr>
            <a:r>
              <a:rPr lang="en-IN" sz="3200" b="1" dirty="0">
                <a:latin typeface="Cambria" panose="02040503050406030204" pitchFamily="18" charset="0"/>
                <a:ea typeface="Cambria" panose="02040503050406030204" pitchFamily="18" charset="0"/>
              </a:rPr>
              <a:t>Hardware/Software Requirements:</a:t>
            </a:r>
            <a:endParaRPr lang="en-IN" sz="3200" dirty="0">
              <a:latin typeface="Cambria" panose="02040503050406030204" pitchFamily="18" charset="0"/>
              <a:ea typeface="Cambria" panose="02040503050406030204" pitchFamily="18" charset="0"/>
            </a:endParaRPr>
          </a:p>
          <a:p>
            <a:pPr lvl="1" algn="just"/>
            <a:r>
              <a:rPr lang="en-IN" sz="3200" b="1" dirty="0">
                <a:latin typeface="Cambria" panose="02040503050406030204" pitchFamily="18" charset="0"/>
                <a:ea typeface="Cambria" panose="02040503050406030204" pitchFamily="18" charset="0"/>
              </a:rPr>
              <a:t>OS:</a:t>
            </a:r>
            <a:r>
              <a:rPr lang="en-IN" sz="3200" dirty="0">
                <a:latin typeface="Cambria" panose="02040503050406030204" pitchFamily="18" charset="0"/>
                <a:ea typeface="Cambria" panose="02040503050406030204" pitchFamily="18" charset="0"/>
              </a:rPr>
              <a:t> Windows 10/11 </a:t>
            </a:r>
          </a:p>
          <a:p>
            <a:pPr lvl="1" algn="just"/>
            <a:r>
              <a:rPr lang="en-IN" sz="3200" b="1" dirty="0">
                <a:latin typeface="Cambria" panose="02040503050406030204" pitchFamily="18" charset="0"/>
                <a:ea typeface="Cambria" panose="02040503050406030204" pitchFamily="18" charset="0"/>
              </a:rPr>
              <a:t>RAM:</a:t>
            </a:r>
            <a:r>
              <a:rPr lang="en-IN" sz="3200" dirty="0">
                <a:latin typeface="Cambria" panose="02040503050406030204" pitchFamily="18" charset="0"/>
                <a:ea typeface="Cambria" panose="02040503050406030204" pitchFamily="18" charset="0"/>
              </a:rPr>
              <a:t> 8GB</a:t>
            </a:r>
          </a:p>
          <a:p>
            <a:pPr lvl="1" algn="just"/>
            <a:r>
              <a:rPr lang="en-IN" sz="3200" b="1" dirty="0">
                <a:latin typeface="Cambria" panose="02040503050406030204" pitchFamily="18" charset="0"/>
                <a:ea typeface="Cambria" panose="02040503050406030204" pitchFamily="18" charset="0"/>
              </a:rPr>
              <a:t>Processor:</a:t>
            </a:r>
            <a:r>
              <a:rPr lang="en-IN" sz="3200" dirty="0">
                <a:latin typeface="Cambria" panose="02040503050406030204" pitchFamily="18" charset="0"/>
                <a:ea typeface="Cambria" panose="02040503050406030204" pitchFamily="18" charset="0"/>
              </a:rPr>
              <a:t> Intel i3/i5/ high processor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1" y="1638300"/>
            <a:ext cx="14671078" cy="6555641"/>
          </a:xfrm>
          <a:prstGeom prst="rect">
            <a:avLst/>
          </a:prstGeom>
          <a:noFill/>
        </p:spPr>
        <p:txBody>
          <a:bodyPr wrap="square" rtlCol="0">
            <a:spAutoFit/>
          </a:bodyPr>
          <a:lstStyle/>
          <a:p>
            <a:pPr algn="just"/>
            <a:r>
              <a:rPr lang="en-US" sz="2800" b="1" dirty="0">
                <a:latin typeface="Cambria" panose="02040503050406030204" pitchFamily="18" charset="0"/>
                <a:ea typeface="Cambria" panose="02040503050406030204" pitchFamily="18" charset="0"/>
              </a:rPr>
              <a:t>Module 1: Identity &amp; Access Management (User Service) - </a:t>
            </a:r>
            <a:r>
              <a:rPr lang="en-US" sz="2800" dirty="0">
                <a:latin typeface="Cambria" panose="02040503050406030204" pitchFamily="18" charset="0"/>
                <a:ea typeface="Cambria" panose="02040503050406030204" pitchFamily="18" charset="0"/>
              </a:rPr>
              <a:t> Handles secure user registration, multi-role authentication (Admin/User), and maintains a persistent notification engine for real-time user alerts.</a:t>
            </a:r>
          </a:p>
          <a:p>
            <a:pPr algn="just"/>
            <a:endParaRPr lang="en-US" sz="2800" dirty="0">
              <a:latin typeface="Cambria" panose="02040503050406030204" pitchFamily="18" charset="0"/>
              <a:ea typeface="Cambria" panose="02040503050406030204" pitchFamily="18" charset="0"/>
            </a:endParaRPr>
          </a:p>
          <a:p>
            <a:pPr algn="just"/>
            <a:r>
              <a:rPr lang="en-US" sz="2800" b="1" dirty="0">
                <a:latin typeface="Cambria" panose="02040503050406030204" pitchFamily="18" charset="0"/>
                <a:ea typeface="Cambria" panose="02040503050406030204" pitchFamily="18" charset="0"/>
              </a:rPr>
              <a:t>Module 2: Festive Catalogue &amp; Inventory (Event Service) - </a:t>
            </a:r>
            <a:r>
              <a:rPr lang="en-US" sz="2800" dirty="0">
                <a:latin typeface="Cambria" panose="02040503050406030204" pitchFamily="18" charset="0"/>
                <a:ea typeface="Cambria" panose="02040503050406030204" pitchFamily="18" charset="0"/>
              </a:rPr>
              <a:t>Manages the master directory of all 10+ technical fests, including department-specific details, live ticket availability, and dynamic pricing models.</a:t>
            </a:r>
          </a:p>
          <a:p>
            <a:pPr algn="just"/>
            <a:endParaRPr lang="en-US" sz="2800" dirty="0">
              <a:latin typeface="Cambria" panose="02040503050406030204" pitchFamily="18" charset="0"/>
              <a:ea typeface="Cambria" panose="02040503050406030204" pitchFamily="18" charset="0"/>
            </a:endParaRPr>
          </a:p>
          <a:p>
            <a:pPr algn="just"/>
            <a:r>
              <a:rPr lang="en-US" sz="2800" b="1" dirty="0">
                <a:latin typeface="Cambria" panose="02040503050406030204" pitchFamily="18" charset="0"/>
                <a:ea typeface="Cambria" panose="02040503050406030204" pitchFamily="18" charset="0"/>
              </a:rPr>
              <a:t>Module 3: Transactional Engine (Booking Service) - </a:t>
            </a:r>
            <a:r>
              <a:rPr lang="en-US" sz="2800" dirty="0">
                <a:latin typeface="Cambria" panose="02040503050406030204" pitchFamily="18" charset="0"/>
                <a:ea typeface="Cambria" panose="02040503050406030204" pitchFamily="18" charset="0"/>
              </a:rPr>
              <a:t>Processes complex multi-attendee ticket purchases, validates availability across services, and ensures data consistency during high-volume bookings.</a:t>
            </a:r>
          </a:p>
          <a:p>
            <a:pPr algn="just"/>
            <a:endParaRPr lang="en-US" sz="2800" dirty="0">
              <a:latin typeface="Cambria" panose="02040503050406030204" pitchFamily="18" charset="0"/>
              <a:ea typeface="Cambria" panose="02040503050406030204" pitchFamily="18" charset="0"/>
            </a:endParaRPr>
          </a:p>
          <a:p>
            <a:pPr algn="just"/>
            <a:r>
              <a:rPr lang="en-US" sz="2800" b="1" dirty="0">
                <a:latin typeface="Cambria" panose="02040503050406030204" pitchFamily="18" charset="0"/>
                <a:ea typeface="Cambria" panose="02040503050406030204" pitchFamily="18" charset="0"/>
              </a:rPr>
              <a:t>Module 4: Global Control &amp; Reporting (Admin Dashboard) - </a:t>
            </a:r>
            <a:r>
              <a:rPr lang="en-US" sz="2800" dirty="0">
                <a:latin typeface="Cambria" panose="02040503050406030204" pitchFamily="18" charset="0"/>
                <a:ea typeface="Cambria" panose="02040503050406030204" pitchFamily="18" charset="0"/>
              </a:rPr>
              <a:t> Provides administrative tools for CRUD operations on events, visibility into the global booking log, and the ability to broadcast urgent notifications to participants.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B89B663-342A-E1A6-DAC0-B8FB411CD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431" y="1580967"/>
            <a:ext cx="7641755" cy="5072927"/>
          </a:xfrm>
          <a:prstGeom prst="rect">
            <a:avLst/>
          </a:prstGeom>
        </p:spPr>
      </p:pic>
      <p:pic>
        <p:nvPicPr>
          <p:cNvPr id="5" name="Picture 4">
            <a:extLst>
              <a:ext uri="{FF2B5EF4-FFF2-40B4-BE49-F238E27FC236}">
                <a16:creationId xmlns:a16="http://schemas.microsoft.com/office/drawing/2014/main" id="{A61C8170-137A-606D-184F-01D101D4F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1639422"/>
            <a:ext cx="6142523" cy="6473738"/>
          </a:xfrm>
          <a:prstGeom prst="rect">
            <a:avLst/>
          </a:prstGeom>
        </p:spPr>
      </p:pic>
      <p:sp>
        <p:nvSpPr>
          <p:cNvPr id="34" name="TextBox 33">
            <a:extLst>
              <a:ext uri="{FF2B5EF4-FFF2-40B4-BE49-F238E27FC236}">
                <a16:creationId xmlns:a16="http://schemas.microsoft.com/office/drawing/2014/main" id="{905EB651-77E7-1AE7-4BCF-8A1E9E873A76}"/>
              </a:ext>
            </a:extLst>
          </p:cNvPr>
          <p:cNvSpPr txBox="1"/>
          <p:nvPr/>
        </p:nvSpPr>
        <p:spPr>
          <a:xfrm>
            <a:off x="2115269" y="7193797"/>
            <a:ext cx="8089312" cy="1323439"/>
          </a:xfrm>
          <a:prstGeom prst="rect">
            <a:avLst/>
          </a:prstGeom>
          <a:noFill/>
        </p:spPr>
        <p:txBody>
          <a:bodyPr wrap="square" rtlCol="0">
            <a:spAutoFit/>
          </a:bodyPr>
          <a:lstStyle/>
          <a:p>
            <a:r>
              <a:rPr lang="en-US" sz="2000" dirty="0"/>
              <a:t> </a:t>
            </a:r>
            <a:r>
              <a:rPr lang="en-US" sz="2000" b="1" dirty="0"/>
              <a:t>Home Page </a:t>
            </a:r>
            <a:r>
              <a:rPr lang="en-US" sz="2000" dirty="0"/>
              <a:t>- A modern landing page introducing the Tech Fest platform with a bold headline and call-to-action buttons. It provides users with an overview of the platform’s purpose to explore and participate in technical events.</a:t>
            </a:r>
            <a:endParaRPr lang="en-IN" sz="2000" dirty="0"/>
          </a:p>
        </p:txBody>
      </p:sp>
      <p:sp>
        <p:nvSpPr>
          <p:cNvPr id="39" name="TextBox 38">
            <a:extLst>
              <a:ext uri="{FF2B5EF4-FFF2-40B4-BE49-F238E27FC236}">
                <a16:creationId xmlns:a16="http://schemas.microsoft.com/office/drawing/2014/main" id="{EB176AEB-4882-6FD7-E228-DCC1A3C1E622}"/>
              </a:ext>
            </a:extLst>
          </p:cNvPr>
          <p:cNvSpPr txBox="1"/>
          <p:nvPr/>
        </p:nvSpPr>
        <p:spPr>
          <a:xfrm>
            <a:off x="10007038" y="8332812"/>
            <a:ext cx="7361175" cy="923330"/>
          </a:xfrm>
          <a:prstGeom prst="rect">
            <a:avLst/>
          </a:prstGeom>
          <a:noFill/>
        </p:spPr>
        <p:txBody>
          <a:bodyPr wrap="square">
            <a:spAutoFit/>
          </a:bodyPr>
          <a:lstStyle/>
          <a:p>
            <a:r>
              <a:rPr lang="en-US" b="1" dirty="0"/>
              <a:t>Events Listing Page - </a:t>
            </a:r>
            <a:r>
              <a:rPr lang="en-US" dirty="0"/>
              <a:t>Displays a categorized list of technical events with details like location, date, and entry fee. Users can browse, filter, and register for events using the “Confirm Entry” option.</a:t>
            </a:r>
            <a:endParaRPr lang="en-IN" sz="1800" dirty="0"/>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398DE7-860D-1A03-FFBA-C2367A602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5725" y="1251687"/>
            <a:ext cx="6905625" cy="6550982"/>
          </a:xfrm>
          <a:prstGeom prst="rect">
            <a:avLst/>
          </a:prstGeom>
        </p:spPr>
      </p:pic>
      <p:pic>
        <p:nvPicPr>
          <p:cNvPr id="5" name="Picture 4">
            <a:extLst>
              <a:ext uri="{FF2B5EF4-FFF2-40B4-BE49-F238E27FC236}">
                <a16:creationId xmlns:a16="http://schemas.microsoft.com/office/drawing/2014/main" id="{804DF2DE-1F19-0D80-E56B-549395155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1251687"/>
            <a:ext cx="7742297" cy="6542401"/>
          </a:xfrm>
          <a:prstGeom prst="rect">
            <a:avLst/>
          </a:prstGeom>
        </p:spPr>
      </p:pic>
      <p:sp>
        <p:nvSpPr>
          <p:cNvPr id="34" name="TextBox 33">
            <a:extLst>
              <a:ext uri="{FF2B5EF4-FFF2-40B4-BE49-F238E27FC236}">
                <a16:creationId xmlns:a16="http://schemas.microsoft.com/office/drawing/2014/main" id="{86A43669-41DB-13BD-3F90-C4420B5DDF89}"/>
              </a:ext>
            </a:extLst>
          </p:cNvPr>
          <p:cNvSpPr txBox="1"/>
          <p:nvPr/>
        </p:nvSpPr>
        <p:spPr>
          <a:xfrm>
            <a:off x="4354798" y="16548480"/>
            <a:ext cx="11626986" cy="646331"/>
          </a:xfrm>
          <a:prstGeom prst="rect">
            <a:avLst/>
          </a:prstGeom>
          <a:noFill/>
        </p:spPr>
        <p:txBody>
          <a:bodyPr wrap="square">
            <a:spAutoFit/>
          </a:bodyPr>
          <a:lstStyle/>
          <a:p>
            <a:r>
              <a:rPr lang="en-US" sz="1800" dirty="0"/>
              <a:t> </a:t>
            </a:r>
            <a:r>
              <a:rPr lang="en-US" sz="1800" b="1" dirty="0"/>
              <a:t>Home Page </a:t>
            </a:r>
            <a:r>
              <a:rPr lang="en-US" sz="1800" dirty="0"/>
              <a:t>- A modern landing page introducing the Tech Fest platform with a bold headline and call-to-action buttons. It provides users with an overview of the platform’s purpose to explore and participate in technical events.</a:t>
            </a:r>
            <a:endParaRPr lang="en-IN" sz="1800" dirty="0"/>
          </a:p>
        </p:txBody>
      </p:sp>
      <p:sp>
        <p:nvSpPr>
          <p:cNvPr id="38" name="Rectangle 1">
            <a:extLst>
              <a:ext uri="{FF2B5EF4-FFF2-40B4-BE49-F238E27FC236}">
                <a16:creationId xmlns:a16="http://schemas.microsoft.com/office/drawing/2014/main" id="{21BBA3A5-8E3B-EE47-4DE7-679A0FC5A8D0}"/>
              </a:ext>
            </a:extLst>
          </p:cNvPr>
          <p:cNvSpPr>
            <a:spLocks noChangeArrowheads="1"/>
          </p:cNvSpPr>
          <p:nvPr/>
        </p:nvSpPr>
        <p:spPr bwMode="auto">
          <a:xfrm>
            <a:off x="1912447" y="8202123"/>
            <a:ext cx="1496059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 Module (Registration &amp; Login Pages)</a:t>
            </a:r>
            <a:r>
              <a:rPr lang="en-US" altLang="en-US" dirty="0">
                <a:latin typeface="Arial" panose="020B0604020202020204" pitchFamily="34" charset="0"/>
              </a:rPr>
              <a:t> - </a:t>
            </a:r>
            <a:r>
              <a:rPr kumimoji="0" lang="en-US" altLang="en-US" sz="1800" b="0" i="0" u="none" strike="noStrike" cap="none" normalizeH="0" baseline="0" dirty="0">
                <a:ln>
                  <a:noFill/>
                </a:ln>
                <a:solidFill>
                  <a:schemeClr val="tx1"/>
                </a:solidFill>
                <a:effectLst/>
                <a:latin typeface="Arial" panose="020B0604020202020204" pitchFamily="34" charset="0"/>
              </a:rPr>
              <a:t>A combined interface that enables users to create an account by entering personal and university details, along with role selection and secure password setup. It also supports user login through email/password or Google authentication, with options for admin access and new user registration.</a:t>
            </a: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5E692DFD-6E98-89D6-2A9C-89F636006C8F}"/>
              </a:ext>
            </a:extLst>
          </p:cNvPr>
          <p:cNvCxnSpPr>
            <a:cxnSpLocks/>
          </p:cNvCxnSpPr>
          <p:nvPr/>
        </p:nvCxnSpPr>
        <p:spPr>
          <a:xfrm>
            <a:off x="9448800" y="1697977"/>
            <a:ext cx="0" cy="6950723"/>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3F3E69B-937D-AD68-EC34-E85956F31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694" y="1584613"/>
            <a:ext cx="7357123" cy="5968702"/>
          </a:xfrm>
          <a:prstGeom prst="rect">
            <a:avLst/>
          </a:prstGeom>
        </p:spPr>
      </p:pic>
      <p:pic>
        <p:nvPicPr>
          <p:cNvPr id="34" name="Picture 33">
            <a:extLst>
              <a:ext uri="{FF2B5EF4-FFF2-40B4-BE49-F238E27FC236}">
                <a16:creationId xmlns:a16="http://schemas.microsoft.com/office/drawing/2014/main" id="{6DE0C4D9-61EB-B1EE-E3B4-E7AA03237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3242" y="1583707"/>
            <a:ext cx="8082792" cy="5691826"/>
          </a:xfrm>
          <a:prstGeom prst="rect">
            <a:avLst/>
          </a:prstGeom>
        </p:spPr>
      </p:pic>
      <p:sp>
        <p:nvSpPr>
          <p:cNvPr id="40" name="TextBox 39">
            <a:extLst>
              <a:ext uri="{FF2B5EF4-FFF2-40B4-BE49-F238E27FC236}">
                <a16:creationId xmlns:a16="http://schemas.microsoft.com/office/drawing/2014/main" id="{3D370052-89B0-6FCF-2E68-6803718CAE5F}"/>
              </a:ext>
            </a:extLst>
          </p:cNvPr>
          <p:cNvSpPr txBox="1"/>
          <p:nvPr/>
        </p:nvSpPr>
        <p:spPr>
          <a:xfrm>
            <a:off x="1743060" y="7747446"/>
            <a:ext cx="7705740" cy="923330"/>
          </a:xfrm>
          <a:prstGeom prst="rect">
            <a:avLst/>
          </a:prstGeom>
          <a:noFill/>
        </p:spPr>
        <p:txBody>
          <a:bodyPr wrap="square">
            <a:spAutoFit/>
          </a:bodyPr>
          <a:lstStyle/>
          <a:p>
            <a:r>
              <a:rPr lang="en-US" b="1" dirty="0"/>
              <a:t>User Portal - </a:t>
            </a:r>
            <a:r>
              <a:rPr lang="en-US" dirty="0"/>
              <a:t>A personalized dashboard where users can manage their event tickets, certificates, refunds, and rewards. It displays active bookings with options to view passes or cancel entries</a:t>
            </a:r>
            <a:endParaRPr lang="en-IN" sz="1800" dirty="0"/>
          </a:p>
        </p:txBody>
      </p:sp>
      <p:sp>
        <p:nvSpPr>
          <p:cNvPr id="42" name="TextBox 41">
            <a:extLst>
              <a:ext uri="{FF2B5EF4-FFF2-40B4-BE49-F238E27FC236}">
                <a16:creationId xmlns:a16="http://schemas.microsoft.com/office/drawing/2014/main" id="{D6C2729A-28F9-ACDA-44E9-754D7A399ECC}"/>
              </a:ext>
            </a:extLst>
          </p:cNvPr>
          <p:cNvSpPr txBox="1"/>
          <p:nvPr/>
        </p:nvSpPr>
        <p:spPr>
          <a:xfrm>
            <a:off x="9586678" y="7793962"/>
            <a:ext cx="7879976" cy="923330"/>
          </a:xfrm>
          <a:prstGeom prst="rect">
            <a:avLst/>
          </a:prstGeom>
          <a:noFill/>
        </p:spPr>
        <p:txBody>
          <a:bodyPr wrap="square">
            <a:spAutoFit/>
          </a:bodyPr>
          <a:lstStyle/>
          <a:p>
            <a:r>
              <a:rPr lang="en-US" b="1" dirty="0"/>
              <a:t>Admin Event Management -  </a:t>
            </a:r>
            <a:r>
              <a:rPr lang="en-US" dirty="0"/>
              <a:t>An admin interface for creating, updating, and managing events along with user and transaction data. It includes controls for event creation, analytics, bookings, refunds, and overall system management.</a:t>
            </a: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4E952C58-8480-45AF-A322-6DBD647D1E1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872B475-A752-FB5C-7989-07B80558D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9877" y="1457278"/>
            <a:ext cx="4968723" cy="6733825"/>
          </a:xfrm>
          <a:prstGeom prst="rect">
            <a:avLst/>
          </a:prstGeom>
        </p:spPr>
      </p:pic>
      <p:pic>
        <p:nvPicPr>
          <p:cNvPr id="6" name="Picture 5">
            <a:extLst>
              <a:ext uri="{FF2B5EF4-FFF2-40B4-BE49-F238E27FC236}">
                <a16:creationId xmlns:a16="http://schemas.microsoft.com/office/drawing/2014/main" id="{AF5AFE82-D6B7-5A05-C705-38C94CD69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8896" y="1440100"/>
            <a:ext cx="8042111" cy="6733825"/>
          </a:xfrm>
          <a:prstGeom prst="rect">
            <a:avLst/>
          </a:prstGeom>
        </p:spPr>
      </p:pic>
      <p:sp>
        <p:nvSpPr>
          <p:cNvPr id="38" name="TextBox 37">
            <a:extLst>
              <a:ext uri="{FF2B5EF4-FFF2-40B4-BE49-F238E27FC236}">
                <a16:creationId xmlns:a16="http://schemas.microsoft.com/office/drawing/2014/main" id="{2BDB014A-3934-5E76-F796-6552EF5D7A96}"/>
              </a:ext>
            </a:extLst>
          </p:cNvPr>
          <p:cNvSpPr txBox="1"/>
          <p:nvPr/>
        </p:nvSpPr>
        <p:spPr>
          <a:xfrm>
            <a:off x="2644484" y="8655506"/>
            <a:ext cx="14212956" cy="923330"/>
          </a:xfrm>
          <a:prstGeom prst="rect">
            <a:avLst/>
          </a:prstGeom>
          <a:noFill/>
        </p:spPr>
        <p:txBody>
          <a:bodyPr wrap="square">
            <a:spAutoFit/>
          </a:bodyPr>
          <a:lstStyle/>
          <a:p>
            <a:r>
              <a:rPr lang="en-US" sz="1800" b="1" dirty="0"/>
              <a:t> </a:t>
            </a:r>
            <a:r>
              <a:rPr lang="en-US" b="1" dirty="0"/>
              <a:t>Ticket Booking &amp; E-Pass Generation Page </a:t>
            </a:r>
            <a:r>
              <a:rPr lang="en-US" sz="1800" dirty="0"/>
              <a:t>- </a:t>
            </a:r>
            <a:r>
              <a:rPr lang="en-US" dirty="0"/>
              <a:t>These images show the complete ticket booking and validation process, including attendee details entry, seat selection, pricing, and secure payment. They also display the generated digital entry pass with event details and a QR code for quick verification and entry validation.</a:t>
            </a:r>
            <a:endParaRPr lang="en-IN" sz="1800" dirty="0"/>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DB03-5949-76CF-730D-FE5AC6B020D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341F564-4633-428C-1F61-C503FD5273F1}"/>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E1FA13A8-928A-9F16-48B2-4EDC4C148B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23C684A6-1477-B610-0A9F-CDE5A866C9C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BFD91F5-CD9A-E8BA-7FF7-B828C51DBDAA}"/>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1D3B593-5A0E-46DF-756F-9A6B724213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946D6BE-BC77-E9AB-16E6-CEAE4EC0386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9330135-71E2-ADA0-7F41-06E42DB5D58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FA87DBC-CC89-B390-A600-F2BCC5965A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ECA32750-0933-E1A1-02FD-38092240BB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6C689BC3-874A-43DE-7ADA-76D7D45F17B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AAAE51B-4974-D365-CB1C-3417B949CB4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9D04FC35-9F18-F798-684B-6BBE67C4701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670C5D5-4C3F-1D22-E9E5-0681D9C0FF3F}"/>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CDB16E9D-BC44-D564-5FDF-928384F97CD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CB15F0F5-9239-83CF-3B8C-609163E6FF0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0567A03-29B2-4F9E-E631-36FE41FB4BC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A0904EA-F016-AFDC-A93E-B4FBF8DF5EC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1D2E5C0B-6A56-6C5E-3BFF-5914EABDA1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C49E1BF9-01E4-4D78-0B81-1515246F3BDF}"/>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7A615322-55A4-6B71-EFFE-393EDD590EA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9A62FE6-6F7A-31CB-33FC-4089D50C8E8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E5E3F7C-D94E-AEED-EB88-5EF146652DE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F97EDCC-00E9-DB52-74AC-0D01F0EF63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487E87BA-4DFA-76C8-6EE6-6878BA06A52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2C2200B9-01A2-94A2-1F5B-1D6A25073A7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926722E-12F6-5180-2638-ACFB885B5A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EC42E6E-8AD6-04E2-8BD4-7FBD7CBDD2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72E90A24-DC79-6DE6-2922-BC4E3DF1ABCE}"/>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36050E7B-D09F-A7E8-04A5-30F04395C2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BA8DA712-CF93-8857-BCB8-2E1D0BE7153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1063915-37FA-F966-5F01-81884DC752A6}"/>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442051EF-BCD0-491C-2351-0C381CC1977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3A83030-2F2A-8C96-2FEF-10234ABBF003}"/>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BB81460-5D0E-8B2B-C18C-A29CE91ABE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843" y="2101330"/>
            <a:ext cx="6880239" cy="4749730"/>
          </a:xfrm>
          <a:prstGeom prst="rect">
            <a:avLst/>
          </a:prstGeom>
        </p:spPr>
      </p:pic>
      <p:pic>
        <p:nvPicPr>
          <p:cNvPr id="6" name="Picture 5">
            <a:extLst>
              <a:ext uri="{FF2B5EF4-FFF2-40B4-BE49-F238E27FC236}">
                <a16:creationId xmlns:a16="http://schemas.microsoft.com/office/drawing/2014/main" id="{BA04F272-A693-1B28-9BCF-606499F5F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0039" y="2128626"/>
            <a:ext cx="7790839" cy="4772653"/>
          </a:xfrm>
          <a:prstGeom prst="rect">
            <a:avLst/>
          </a:prstGeom>
        </p:spPr>
      </p:pic>
      <p:sp>
        <p:nvSpPr>
          <p:cNvPr id="39" name="Rectangle 1">
            <a:extLst>
              <a:ext uri="{FF2B5EF4-FFF2-40B4-BE49-F238E27FC236}">
                <a16:creationId xmlns:a16="http://schemas.microsoft.com/office/drawing/2014/main" id="{D1FB171E-2B5C-6445-0A20-B7F54E15363F}"/>
              </a:ext>
            </a:extLst>
          </p:cNvPr>
          <p:cNvSpPr>
            <a:spLocks noChangeArrowheads="1"/>
          </p:cNvSpPr>
          <p:nvPr/>
        </p:nvSpPr>
        <p:spPr bwMode="auto">
          <a:xfrm>
            <a:off x="1990190" y="7530104"/>
            <a:ext cx="153019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Secure Payment &amp; Confirmation Page</a:t>
            </a:r>
            <a:r>
              <a:rPr lang="en-US" altLang="en-US" dirty="0">
                <a:latin typeface="Arial" panose="020B0604020202020204" pitchFamily="34" charset="0"/>
              </a:rPr>
              <a:t> - </a:t>
            </a:r>
            <a:r>
              <a:rPr kumimoji="0" lang="en-US" altLang="en-US" sz="1800" b="0" i="0" u="none" strike="noStrike" cap="none" normalizeH="0" baseline="0" dirty="0">
                <a:ln>
                  <a:noFill/>
                </a:ln>
                <a:solidFill>
                  <a:schemeClr val="tx1"/>
                </a:solidFill>
                <a:effectLst/>
                <a:latin typeface="Arial" panose="020B0604020202020204" pitchFamily="34" charset="0"/>
              </a:rPr>
              <a:t>Handles secure payment processing with multiple options like card, UPI, and net banking, ensuring encrypted </a:t>
            </a:r>
            <a:r>
              <a:rPr kumimoji="0" lang="en-US" altLang="en-US" sz="1800" b="0" i="0" u="none" strike="noStrike" cap="none" normalizeH="0" baseline="0" dirty="0" err="1">
                <a:ln>
                  <a:noFill/>
                </a:ln>
                <a:solidFill>
                  <a:schemeClr val="tx1"/>
                </a:solidFill>
                <a:effectLst/>
                <a:latin typeface="Arial" panose="020B0604020202020204" pitchFamily="34" charset="0"/>
              </a:rPr>
              <a:t>transactions.After</a:t>
            </a:r>
            <a:r>
              <a:rPr kumimoji="0" lang="en-US" altLang="en-US" sz="1800" b="0" i="0" u="none" strike="noStrike" cap="none" normalizeH="0" baseline="0" dirty="0">
                <a:ln>
                  <a:noFill/>
                </a:ln>
                <a:solidFill>
                  <a:schemeClr val="tx1"/>
                </a:solidFill>
                <a:effectLst/>
                <a:latin typeface="Arial" panose="020B0604020202020204" pitchFamily="34" charset="0"/>
              </a:rPr>
              <a:t> successful payment, it displays a confirmation screen with ticket ID and activates the user’s entry pass.</a:t>
            </a:r>
          </a:p>
        </p:txBody>
      </p:sp>
    </p:spTree>
    <p:extLst>
      <p:ext uri="{BB962C8B-B14F-4D97-AF65-F5344CB8AC3E}">
        <p14:creationId xmlns:p14="http://schemas.microsoft.com/office/powerpoint/2010/main" val="2115207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31A08-FC7E-E512-85E3-5A8DF3EBA1E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BB2DCE9-09B2-3827-0C54-7250AFB7359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2DCF036-D101-249B-C54F-D58E4E597A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D1170D6-06BB-DFFF-2477-50FD484405A4}"/>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85E3DA-43D7-6E2B-749D-244B47A44AF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087445-13BC-A3C2-4EAB-172A2DFF82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D6BC875-4EF7-1E48-E27F-CD2CB9084C9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246BAE-7768-85A5-769E-DD4E0EC948CC}"/>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D5386C6-D378-1F86-3A74-665CAF7093C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388E6EA-CC2C-1138-B38D-334C1FAC67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4FAEF74E-26CF-34A1-C455-EACB215CD50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8D273E81-3F09-3E12-65AB-91ACBC666CE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50AFF68D-04DA-05F5-EEFC-F8696BEA8B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1E02272-B02D-8927-8DE9-30A71B1B5C03}"/>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15D95B6-3A29-FC02-EB48-9FEF5DF2BE2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7EE3B5F9-3E74-DB4B-8449-14B55FBC13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9B76B1-565E-D6B4-A58D-F5B455AB933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02AF821-05F9-F6C8-352E-991A3B7F530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17ECA61-F265-684D-5BC5-25BD519341D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249936D-46DB-340A-ADF8-78F41547985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A2C15C50-2FF6-0A35-9919-1804313CC7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23C08F9B-98FC-EAA8-F170-9DFC72F1E2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B638819-E938-92E6-85E3-83DB4781E6A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A0F2E00-1F56-DA43-BC39-CF1D23BBE2D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2574F49-B0CA-ABD8-06B6-8B63313AC83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9DF8B14-A995-2A5D-D49A-5FEB6109B7AC}"/>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9DDC544-CFB7-FF35-C651-90DB255994C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519A7CF-36B0-E5DF-CA4C-E3305A017B1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9A1EE6FB-E3CE-2D3B-EEF8-29E237D90D77}"/>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D029D1-9105-EAFF-D51D-80FFB3E788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A37FCF64-A25F-B7B1-3231-F0ED02AB601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25A7B4E-B6B6-4A34-72D3-B680576DECA5}"/>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D36598B5-E12E-2312-2D11-26F42AEFD3F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1A4B2BB-27EE-9136-DC70-3E3D3A0AB764}"/>
              </a:ext>
            </a:extLst>
          </p:cNvPr>
          <p:cNvSpPr txBox="1"/>
          <p:nvPr/>
        </p:nvSpPr>
        <p:spPr>
          <a:xfrm>
            <a:off x="1533539" y="1809007"/>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E3FE32D4-6B58-3D73-667F-D58949F5A474}"/>
              </a:ext>
            </a:extLst>
          </p:cNvPr>
          <p:cNvPicPr>
            <a:picLocks noChangeAspect="1"/>
          </p:cNvPicPr>
          <p:nvPr/>
        </p:nvPicPr>
        <p:blipFill>
          <a:blip r:embed="rId2"/>
          <a:stretch>
            <a:fillRect/>
          </a:stretch>
        </p:blipFill>
        <p:spPr>
          <a:xfrm>
            <a:off x="2971800" y="1485207"/>
            <a:ext cx="3429000" cy="7284203"/>
          </a:xfrm>
          <a:prstGeom prst="rect">
            <a:avLst/>
          </a:prstGeom>
        </p:spPr>
      </p:pic>
      <p:pic>
        <p:nvPicPr>
          <p:cNvPr id="40" name="Picture 39">
            <a:extLst>
              <a:ext uri="{FF2B5EF4-FFF2-40B4-BE49-F238E27FC236}">
                <a16:creationId xmlns:a16="http://schemas.microsoft.com/office/drawing/2014/main" id="{16C35966-3448-99B9-D2A0-459F95FC859B}"/>
              </a:ext>
            </a:extLst>
          </p:cNvPr>
          <p:cNvPicPr>
            <a:picLocks noChangeAspect="1"/>
          </p:cNvPicPr>
          <p:nvPr/>
        </p:nvPicPr>
        <p:blipFill>
          <a:blip r:embed="rId3"/>
          <a:stretch>
            <a:fillRect/>
          </a:stretch>
        </p:blipFill>
        <p:spPr>
          <a:xfrm>
            <a:off x="9372600" y="1451799"/>
            <a:ext cx="5287123" cy="5059228"/>
          </a:xfrm>
          <a:prstGeom prst="rect">
            <a:avLst/>
          </a:prstGeom>
        </p:spPr>
      </p:pic>
      <p:sp>
        <p:nvSpPr>
          <p:cNvPr id="46" name="Rectangle 2">
            <a:extLst>
              <a:ext uri="{FF2B5EF4-FFF2-40B4-BE49-F238E27FC236}">
                <a16:creationId xmlns:a16="http://schemas.microsoft.com/office/drawing/2014/main" id="{32A3390F-385B-170C-EDA6-16801CB2C684}"/>
              </a:ext>
            </a:extLst>
          </p:cNvPr>
          <p:cNvSpPr>
            <a:spLocks noChangeArrowheads="1"/>
          </p:cNvSpPr>
          <p:nvPr/>
        </p:nvSpPr>
        <p:spPr bwMode="auto">
          <a:xfrm>
            <a:off x="6741842" y="7144132"/>
            <a:ext cx="102507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Innovative Features </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Provides an interactive seat selection system with real-time availability and integrated event location mapping for better planning and user convenience. Generates a secure QR-based digital pass with options to download or share, enabling quick, contactless entry and verification.</a:t>
            </a:r>
          </a:p>
        </p:txBody>
      </p:sp>
    </p:spTree>
    <p:extLst>
      <p:ext uri="{BB962C8B-B14F-4D97-AF65-F5344CB8AC3E}">
        <p14:creationId xmlns:p14="http://schemas.microsoft.com/office/powerpoint/2010/main" val="120098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F2BA-FD67-88B5-D00A-FB42DF0E42B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E523E47-FF12-EB4F-CE4E-15E2BD90E35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0BF7AEA-D128-304C-183A-EB3077D12D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E5B44C9-58D3-B109-89D1-E8FFD2315F0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4E56993-8907-140B-5665-32E2F0E7251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1C3DB8-7383-8D70-BB09-1A750F2C0F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6851A8C-42BC-3992-679E-AF3EB93D8C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C4CA35-A97E-BE99-FA00-97839403BA6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06C0D29F-FB0D-BB96-D4AE-A8C22A8CB3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DFDBF821-9269-FB5A-0458-881A0E029C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4DA79A4-C081-806C-6C3A-C91A9D054D4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5FDCDD9-077E-974D-5AC5-094EB0F0F9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D027CC-442F-A18F-1E78-2F68E60EBF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D8743EF0-28DB-F432-0FD1-1CA6C5202E9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36A8DF1-B551-FE2A-F144-BEB434B06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61A89A0-58F9-057C-6EDE-74C4F5446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F53D3D6-9FBD-55E1-7943-DBF89C0B7FD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FF8775B-97DF-7420-5EFD-8EB72B3097B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E0800F5-9605-6E15-B0D5-CC1C1DEF93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6835700-6327-3DF6-F246-625A9BB811E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045791B-6506-76B9-2340-8EB2633D3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8D1A950-C54D-5AC4-4D6C-4E7E3BDFD21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76B9CD8-6827-A492-006D-876430D4A63E}"/>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E122907-AE55-D4AB-0A97-62A51C31AE4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1A2A6DCC-7E15-52F6-783E-563DE4EDE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B6F1BAB-47A0-DD22-93AF-14EAB24A610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D7F4897-BA88-6C0E-DA58-A9E65DADA3C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67B0E0F-78E1-D4C5-BB5E-6866A52ABF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DA9535A-AF12-0C77-A819-68E316B95B01}"/>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B3566A7-7E62-ED9D-5F2B-3D6E594172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966596B-4DE4-21F6-F8EB-0B1F9C6C8A9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D65E6BB-7A3E-1F80-BE43-504A3408DC11}"/>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4CC6DFF-6FEB-8F4B-CAF5-E76C7611A2E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83177DF-34AF-881C-BCB8-8B1D28F88137}"/>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4" name="Picture 3">
            <a:extLst>
              <a:ext uri="{FF2B5EF4-FFF2-40B4-BE49-F238E27FC236}">
                <a16:creationId xmlns:a16="http://schemas.microsoft.com/office/drawing/2014/main" id="{2A7F49B0-7E00-7953-10B5-7EC822B169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6346" y="1299775"/>
            <a:ext cx="5365273" cy="2823475"/>
          </a:xfrm>
          <a:prstGeom prst="rect">
            <a:avLst/>
          </a:prstGeom>
        </p:spPr>
      </p:pic>
      <p:pic>
        <p:nvPicPr>
          <p:cNvPr id="6" name="Picture 5">
            <a:extLst>
              <a:ext uri="{FF2B5EF4-FFF2-40B4-BE49-F238E27FC236}">
                <a16:creationId xmlns:a16="http://schemas.microsoft.com/office/drawing/2014/main" id="{C919879F-FD4A-7DF8-6BB6-347D271C8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047" y="1277023"/>
            <a:ext cx="7111154" cy="3728911"/>
          </a:xfrm>
          <a:prstGeom prst="rect">
            <a:avLst/>
          </a:prstGeom>
        </p:spPr>
      </p:pic>
      <p:pic>
        <p:nvPicPr>
          <p:cNvPr id="38" name="Picture 37">
            <a:extLst>
              <a:ext uri="{FF2B5EF4-FFF2-40B4-BE49-F238E27FC236}">
                <a16:creationId xmlns:a16="http://schemas.microsoft.com/office/drawing/2014/main" id="{F9FF3DB0-C881-A7F5-A99D-7F0DA56471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8395" y="4339258"/>
            <a:ext cx="5354405" cy="2794330"/>
          </a:xfrm>
          <a:prstGeom prst="rect">
            <a:avLst/>
          </a:prstGeom>
        </p:spPr>
      </p:pic>
      <p:pic>
        <p:nvPicPr>
          <p:cNvPr id="40" name="Picture 39">
            <a:extLst>
              <a:ext uri="{FF2B5EF4-FFF2-40B4-BE49-F238E27FC236}">
                <a16:creationId xmlns:a16="http://schemas.microsoft.com/office/drawing/2014/main" id="{AAF4D2D1-037F-1215-37DE-EE948A5DF2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5299" y="7349596"/>
            <a:ext cx="5459902" cy="2866449"/>
          </a:xfrm>
          <a:prstGeom prst="rect">
            <a:avLst/>
          </a:prstGeom>
        </p:spPr>
      </p:pic>
      <p:pic>
        <p:nvPicPr>
          <p:cNvPr id="42" name="Picture 41">
            <a:extLst>
              <a:ext uri="{FF2B5EF4-FFF2-40B4-BE49-F238E27FC236}">
                <a16:creationId xmlns:a16="http://schemas.microsoft.com/office/drawing/2014/main" id="{ECD6351F-6F4F-12FF-F4F4-E51C94CA92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66235" y="5143500"/>
            <a:ext cx="7128146" cy="3728911"/>
          </a:xfrm>
          <a:prstGeom prst="rect">
            <a:avLst/>
          </a:prstGeom>
        </p:spPr>
      </p:pic>
    </p:spTree>
    <p:extLst>
      <p:ext uri="{BB962C8B-B14F-4D97-AF65-F5344CB8AC3E}">
        <p14:creationId xmlns:p14="http://schemas.microsoft.com/office/powerpoint/2010/main" val="812851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BC15B89-C7A8-3603-B585-B5CB6EDA41D8}"/>
              </a:ext>
            </a:extLst>
          </p:cNvPr>
          <p:cNvSpPr txBox="1"/>
          <p:nvPr/>
        </p:nvSpPr>
        <p:spPr>
          <a:xfrm>
            <a:off x="1894576" y="1102724"/>
            <a:ext cx="15415683" cy="9510296"/>
          </a:xfrm>
          <a:prstGeom prst="rect">
            <a:avLst/>
          </a:prstGeom>
          <a:noFill/>
        </p:spPr>
        <p:txBody>
          <a:bodyPr wrap="square" rtlCol="0">
            <a:spAutoFit/>
          </a:bodyPr>
          <a:lstStyle/>
          <a:p>
            <a:pPr algn="just"/>
            <a:r>
              <a:rPr lang="en-US" sz="2400" b="1" dirty="0">
                <a:latin typeface="Cambria" panose="02040503050406030204" pitchFamily="18" charset="0"/>
                <a:ea typeface="Cambria" panose="02040503050406030204" pitchFamily="18" charset="0"/>
              </a:rPr>
              <a:t>Advantages</a:t>
            </a:r>
          </a:p>
          <a:p>
            <a:pPr algn="just"/>
            <a:endParaRPr lang="en-US" sz="20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Distributed Architecture:</a:t>
            </a:r>
            <a:r>
              <a:rPr lang="en-US" sz="2200" dirty="0">
                <a:latin typeface="Cambria" panose="02040503050406030204" pitchFamily="18" charset="0"/>
                <a:ea typeface="Cambria" panose="02040503050406030204" pitchFamily="18" charset="0"/>
              </a:rPr>
              <a:t> Enhances system fault tolerance through microservice decoupling, ensuring that failure in one service does not crash the entire portal.</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Inventory Integrity:</a:t>
            </a:r>
            <a:r>
              <a:rPr lang="en-US" sz="2200" dirty="0">
                <a:latin typeface="Cambria" panose="02040503050406030204" pitchFamily="18" charset="0"/>
                <a:ea typeface="Cambria" panose="02040503050406030204" pitchFamily="18" charset="0"/>
              </a:rPr>
              <a:t> Guarantees real-time ticket validation across concurrent users to prevent overselling through a dedicated event-logic controller.</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Dynamic UX:</a:t>
            </a:r>
            <a:r>
              <a:rPr lang="en-US" sz="2200" dirty="0">
                <a:latin typeface="Cambria" panose="02040503050406030204" pitchFamily="18" charset="0"/>
                <a:ea typeface="Cambria" panose="02040503050406030204" pitchFamily="18" charset="0"/>
              </a:rPr>
              <a:t> Features a live notification engine that provides immediate feedback and alerts regarding administrative updates directly on the user dashboard.</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Rich Asset Handling:</a:t>
            </a:r>
            <a:r>
              <a:rPr lang="en-US" sz="2200" dirty="0">
                <a:latin typeface="Cambria" panose="02040503050406030204" pitchFamily="18" charset="0"/>
                <a:ea typeface="Cambria" panose="02040503050406030204" pitchFamily="18" charset="0"/>
              </a:rPr>
              <a:t> Implements a unique, </a:t>
            </a:r>
            <a:r>
              <a:rPr lang="en-US" sz="2200" dirty="0" err="1">
                <a:latin typeface="Cambria" panose="02040503050406030204" pitchFamily="18" charset="0"/>
                <a:ea typeface="Cambria" panose="02040503050406030204" pitchFamily="18" charset="0"/>
              </a:rPr>
              <a:t>glassmorphic</a:t>
            </a:r>
            <a:r>
              <a:rPr lang="en-US" sz="2200" dirty="0">
                <a:latin typeface="Cambria" panose="02040503050406030204" pitchFamily="18" charset="0"/>
                <a:ea typeface="Cambria" panose="02040503050406030204" pitchFamily="18" charset="0"/>
              </a:rPr>
              <a:t> design system that ensures a premium and responsive interface for both desktop and mobile views.</a:t>
            </a:r>
          </a:p>
          <a:p>
            <a:pPr algn="just"/>
            <a:endParaRPr lang="en-US" sz="2000" dirty="0">
              <a:latin typeface="Cambria" panose="02040503050406030204" pitchFamily="18" charset="0"/>
              <a:ea typeface="Cambria" panose="02040503050406030204" pitchFamily="18" charset="0"/>
            </a:endParaRPr>
          </a:p>
          <a:p>
            <a:pPr algn="just"/>
            <a:r>
              <a:rPr lang="en-US" sz="2400" b="1" dirty="0">
                <a:latin typeface="Cambria" panose="02040503050406030204" pitchFamily="18" charset="0"/>
                <a:ea typeface="Cambria" panose="02040503050406030204" pitchFamily="18" charset="0"/>
              </a:rPr>
              <a:t>Limitations</a:t>
            </a:r>
          </a:p>
          <a:p>
            <a:pPr algn="just"/>
            <a:endParaRPr lang="en-US" sz="20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Payment Processing:</a:t>
            </a:r>
            <a:r>
              <a:rPr lang="en-US" sz="2200" dirty="0">
                <a:latin typeface="Cambria" panose="02040503050406030204" pitchFamily="18" charset="0"/>
                <a:ea typeface="Cambria" panose="02040503050406030204" pitchFamily="18" charset="0"/>
              </a:rPr>
              <a:t> Currently focuses on the technical registration workflow and does not yet include a live integrated third-party payment gateway.</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Physical </a:t>
            </a:r>
            <a:r>
              <a:rPr lang="en-US" sz="2200" b="1" dirty="0" err="1">
                <a:latin typeface="Cambria" panose="02040503050406030204" pitchFamily="18" charset="0"/>
                <a:ea typeface="Cambria" panose="02040503050406030204" pitchFamily="18" charset="0"/>
              </a:rPr>
              <a:t>Ticketry</a:t>
            </a:r>
            <a:r>
              <a:rPr lang="en-US" sz="2200" b="1" dirty="0">
                <a:latin typeface="Cambria" panose="02040503050406030204" pitchFamily="18" charset="0"/>
                <a:ea typeface="Cambria" panose="02040503050406030204" pitchFamily="18" charset="0"/>
              </a:rPr>
              <a:t>:</a:t>
            </a:r>
            <a:r>
              <a:rPr lang="en-US" sz="2200" dirty="0">
                <a:latin typeface="Cambria" panose="02040503050406030204" pitchFamily="18" charset="0"/>
                <a:ea typeface="Cambria" panose="02040503050406030204" pitchFamily="18" charset="0"/>
              </a:rPr>
              <a:t> While it generates interactive digital logs, it lacks automated PDF generation and QR-code scanning for on-spot physical check-ins.</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Cloud Persistence:</a:t>
            </a:r>
            <a:r>
              <a:rPr lang="en-US" sz="2200" dirty="0">
                <a:latin typeface="Cambria" panose="02040503050406030204" pitchFamily="18" charset="0"/>
                <a:ea typeface="Cambria" panose="02040503050406030204" pitchFamily="18" charset="0"/>
              </a:rPr>
              <a:t> Designed for a local localized server environment, which would require </a:t>
            </a:r>
            <a:r>
              <a:rPr lang="en-US" sz="2200" dirty="0" err="1">
                <a:latin typeface="Cambria" panose="02040503050406030204" pitchFamily="18" charset="0"/>
                <a:ea typeface="Cambria" panose="02040503050406030204" pitchFamily="18" charset="0"/>
              </a:rPr>
              <a:t>Dockerization</a:t>
            </a:r>
            <a:r>
              <a:rPr lang="en-US" sz="2200" dirty="0">
                <a:latin typeface="Cambria" panose="02040503050406030204" pitchFamily="18" charset="0"/>
                <a:ea typeface="Cambria" panose="02040503050406030204" pitchFamily="18" charset="0"/>
              </a:rPr>
              <a:t> for horizontal scaling during massive traffic spikes.</a:t>
            </a:r>
          </a:p>
          <a:p>
            <a:pPr marL="342900" indent="-342900" algn="just">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en-US" sz="2200" b="1" dirty="0">
                <a:latin typeface="Cambria" panose="02040503050406030204" pitchFamily="18" charset="0"/>
                <a:ea typeface="Cambria" panose="02040503050406030204" pitchFamily="18" charset="0"/>
              </a:rPr>
              <a:t>Dependency Constraints:</a:t>
            </a:r>
            <a:r>
              <a:rPr lang="en-US" sz="2200" dirty="0">
                <a:latin typeface="Cambria" panose="02040503050406030204" pitchFamily="18" charset="0"/>
                <a:ea typeface="Cambria" panose="02040503050406030204" pitchFamily="18" charset="0"/>
              </a:rPr>
              <a:t> Requires a stable network connection to the Eureka Discovery server and MySQL instance to process any transactional bookings.</a:t>
            </a:r>
          </a:p>
          <a:p>
            <a:pPr algn="just"/>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456</TotalTime>
  <Words>1573</Words>
  <Application>Microsoft Office PowerPoint</Application>
  <PresentationFormat>Custom</PresentationFormat>
  <Paragraphs>346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Times New Roman</vt:lpstr>
      <vt:lpstr>Gotham</vt:lpstr>
      <vt:lpstr>Calibri</vt:lpstr>
      <vt:lpstr>Arial</vt:lpstr>
      <vt:lpstr>Cambria</vt:lpstr>
      <vt:lpstr>Gotham Bold Italics</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MADHUKSHA KURUMETI</dc:creator>
  <cp:lastModifiedBy>KURUMETI MADHUKSHA</cp:lastModifiedBy>
  <cp:revision>15</cp:revision>
  <dcterms:created xsi:type="dcterms:W3CDTF">2006-08-16T00:00:00Z</dcterms:created>
  <dcterms:modified xsi:type="dcterms:W3CDTF">2026-05-05T16:42:30Z</dcterms:modified>
  <dc:identifier>DAHCaYqJ9OU</dc:identifier>
</cp:coreProperties>
</file>